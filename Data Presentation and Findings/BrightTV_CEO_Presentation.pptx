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45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200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E78-6047-9713-B7B38D0CAFDB}"/>
              </c:ext>
            </c:extLst>
          </c:dPt>
          <c:dPt>
            <c:idx val="1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E78-6047-9713-B7B38D0CAFDB}"/>
              </c:ext>
            </c:extLst>
          </c:dPt>
          <c:dPt>
            <c:idx val="2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E78-6047-9713-B7B38D0CAFD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E78-6047-9713-B7B38D0CAFD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E78-6047-9713-B7B38D0CAFD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E78-6047-9713-B7B38D0CAFD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Not Specified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3918</c:v>
                </c:pt>
                <c:pt idx="1">
                  <c:v>537</c:v>
                </c:pt>
                <c:pt idx="2">
                  <c:v>702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E78-6047-9713-B7B38D0CAF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762</c:v>
                </c:pt>
                <c:pt idx="1">
                  <c:v>1894</c:v>
                </c:pt>
                <c:pt idx="2">
                  <c:v>1215</c:v>
                </c:pt>
                <c:pt idx="3">
                  <c:v>454</c:v>
                </c:pt>
                <c:pt idx="4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3A-564B-9457-FA0DA314C1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A84-704E-935A-80087A840E3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A84-704E-935A-80087A840E3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A84-704E-935A-80087A840E34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3A84-704E-935A-80087A840E34}"/>
              </c:ext>
            </c:extLst>
          </c:dPt>
          <c:dPt>
            <c:idx val="4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A84-704E-935A-80087A840E34}"/>
              </c:ext>
            </c:extLst>
          </c:dPt>
          <c:dPt>
            <c:idx val="5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A84-704E-935A-80087A840E34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3A84-704E-935A-80087A840E3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957</c:v>
                </c:pt>
                <c:pt idx="1">
                  <c:v>1322</c:v>
                </c:pt>
                <c:pt idx="2">
                  <c:v>1553</c:v>
                </c:pt>
                <c:pt idx="3">
                  <c:v>1441</c:v>
                </c:pt>
                <c:pt idx="4">
                  <c:v>1675</c:v>
                </c:pt>
                <c:pt idx="5">
                  <c:v>1633</c:v>
                </c:pt>
                <c:pt idx="6">
                  <c:v>1419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A84-704E-935A-80087A840E3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2199</c:v>
                </c:pt>
                <c:pt idx="1">
                  <c:v>2980</c:v>
                </c:pt>
                <c:pt idx="2">
                  <c:v>4816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0DD-C345-8621-4159A36AA4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8BD-7942-A22A-9C711FF8B766}"/>
              </c:ext>
            </c:extLst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8BD-7942-A22A-9C711FF8B766}"/>
              </c:ext>
            </c:extLst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8BD-7942-A22A-9C711FF8B766}"/>
              </c:ext>
            </c:extLst>
          </c:dPt>
          <c:dPt>
            <c:idx val="3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8BD-7942-A22A-9C711FF8B766}"/>
              </c:ext>
            </c:extLst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8BD-7942-A22A-9C711FF8B766}"/>
              </c:ext>
            </c:extLst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8BD-7942-A22A-9C711FF8B766}"/>
              </c:ext>
            </c:extLst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8BD-7942-A22A-9C711FF8B766}"/>
              </c:ext>
            </c:extLst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98BD-7942-A22A-9C711FF8B76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SuperSport Live</c:v>
                </c:pt>
                <c:pt idx="1">
                  <c:v>ICC Cricket</c:v>
                </c:pt>
                <c:pt idx="2">
                  <c:v>Channel O</c:v>
                </c:pt>
                <c:pt idx="3">
                  <c:v>Trace TV</c:v>
                </c:pt>
                <c:pt idx="4">
                  <c:v>SS Blitz</c:v>
                </c:pt>
                <c:pt idx="5">
                  <c:v>Africa Magic</c:v>
                </c:pt>
                <c:pt idx="6">
                  <c:v>Cartoon Net</c:v>
                </c:pt>
                <c:pt idx="7">
                  <c:v>Boomerang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1638</c:v>
                </c:pt>
                <c:pt idx="1">
                  <c:v>1465</c:v>
                </c:pt>
                <c:pt idx="2">
                  <c:v>1050</c:v>
                </c:pt>
                <c:pt idx="3">
                  <c:v>952</c:v>
                </c:pt>
                <c:pt idx="4">
                  <c:v>896</c:v>
                </c:pt>
                <c:pt idx="5">
                  <c:v>859</c:v>
                </c:pt>
                <c:pt idx="6">
                  <c:v>793</c:v>
                </c:pt>
                <c:pt idx="7">
                  <c:v>714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98BD-7942-A22A-9C711FF8B7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Mins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ICC Cricket</c:v>
                </c:pt>
                <c:pt idx="1">
                  <c:v>SuperSport Live</c:v>
                </c:pt>
                <c:pt idx="2">
                  <c:v>Trace TV</c:v>
                </c:pt>
                <c:pt idx="3">
                  <c:v>Channel O</c:v>
                </c:pt>
                <c:pt idx="4">
                  <c:v>SS Blitz</c:v>
                </c:pt>
                <c:pt idx="5">
                  <c:v>Boomerang</c:v>
                </c:pt>
                <c:pt idx="6">
                  <c:v>Cartoon Net</c:v>
                </c:pt>
                <c:pt idx="7">
                  <c:v>Africa Magic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16.899999999999999</c:v>
                </c:pt>
                <c:pt idx="1">
                  <c:v>11.5</c:v>
                </c:pt>
                <c:pt idx="2">
                  <c:v>12.1</c:v>
                </c:pt>
                <c:pt idx="3">
                  <c:v>11</c:v>
                </c:pt>
                <c:pt idx="4">
                  <c:v>6.1</c:v>
                </c:pt>
                <c:pt idx="5">
                  <c:v>6.2</c:v>
                </c:pt>
                <c:pt idx="6">
                  <c:v>5.3</c:v>
                </c:pt>
                <c:pt idx="7">
                  <c:v>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D8-A342-AF0E-2E3EF1F6D7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1520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201168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BRIGHTTV ANALYTICS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Viewership Analytics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9E0B"/>
                </a:solidFill>
              </a:rPr>
              <a:t>&amp; Growth Strategy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6576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Presented to: BrightTV CEO &amp; Leadership Team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April 2026  |Nthabiseng Nkhatau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71530"/>
          </a:solidFill>
          <a:ln w="12700">
            <a:solidFill>
              <a:srgbClr val="071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5,375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45262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Registered Users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97480" y="4160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10,000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97480" y="45262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Viewership Sessions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4160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81.6%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46320" y="45262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Activation Rate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95160" y="4160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1,523 hrs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95160" y="45262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Total Watch Time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0972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02920" cy="10972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051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User Base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39903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Who are our subscribers? Demographics and profile breakdown.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10972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502920" cy="10972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96012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1051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Viewership Trends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39903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When, what, and how long — session patterns and peak times.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4114800" cy="10972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240280"/>
            <a:ext cx="502920" cy="10972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24028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331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Content Insights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67919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Channel performance and audience-content alignment.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4114800" cy="10972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240280"/>
            <a:ext cx="502920" cy="10972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224028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2331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Consumption Drivers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267919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Factors influencing high vs low engagement.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520440"/>
            <a:ext cx="4114800" cy="10972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520440"/>
            <a:ext cx="502920" cy="10972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352044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0120" y="3611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Low-Day Strategy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395935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Content recommendations to lift Monday viewing.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520440"/>
            <a:ext cx="4114800" cy="10972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3520440"/>
            <a:ext cx="502920" cy="10972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352044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9240" y="3611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Growth Recommendations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395935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Initiatives to grow the subscriber base.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User Base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891B2"/>
                </a:solidFill>
              </a:rPr>
              <a:t>Who are our subscribers?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92024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</a:rPr>
              <a:t>5,375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Registered Users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868680"/>
            <a:ext cx="192024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23160" y="914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</a:rPr>
              <a:t>4,386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23160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Active Viewers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192024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914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</a:rPr>
              <a:t>81.6%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Activation Rate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0840" y="868680"/>
            <a:ext cx="192024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20840" y="914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</a:rPr>
              <a:t>989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720840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Inactive Users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1920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Gender Split</a:t>
            </a:r>
            <a:endParaRPr lang="en-US" sz="13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91440" y="2148840"/>
          <a:ext cx="411480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/>
          <p:nvPr/>
        </p:nvSpPr>
        <p:spPr>
          <a:xfrm>
            <a:off x="4480560" y="19202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Age Group Distribution</a:t>
            </a:r>
            <a:endParaRPr lang="en-US" sz="1300" dirty="0"/>
          </a:p>
        </p:txBody>
      </p:sp>
      <p:graphicFrame>
        <p:nvGraphicFramePr>
          <p:cNvPr id="20" name="Chart 1"/>
          <p:cNvGraphicFramePr/>
          <p:nvPr/>
        </p:nvGraphicFramePr>
        <p:xfrm>
          <a:off x="4480560" y="2148840"/>
          <a:ext cx="438912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Shape 17"/>
          <p:cNvSpPr/>
          <p:nvPr/>
        </p:nvSpPr>
        <p:spPr>
          <a:xfrm>
            <a:off x="182880" y="4777740"/>
            <a:ext cx="8595360" cy="36576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</a:rPr>
              <a:t>Key Insight: 25–34 is the dominant age group (35%). Male subscribers outnumber females 7:1 — a significant content diversification opportunity.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Viewership Trends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891B2"/>
                </a:solidFill>
              </a:rPr>
              <a:t>When do subscribers watch?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Sessions by Day of Week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91440" y="1051560"/>
          <a:ext cx="521208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577840" y="822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Monthly Session Trend</a:t>
            </a:r>
            <a:endParaRPr lang="en-US" sz="13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5486400" y="1051560"/>
          <a:ext cx="34747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3611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Time-of-Day Viewership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274320" y="3931920"/>
            <a:ext cx="192024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274320" y="39776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</a:rPr>
              <a:t>1,820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274320" y="4343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Morning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(5–11)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423160" y="3931920"/>
            <a:ext cx="192024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2423160" y="39776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2,956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2423160" y="4343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Afternoon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(12–17)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572000" y="3931920"/>
            <a:ext cx="192024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572000" y="39776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3,148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572000" y="4343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Evening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(18–22)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720840" y="3931920"/>
            <a:ext cx="1920240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720840" y="39776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</a:rPr>
              <a:t>2,076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6720840" y="43434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Night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(23–4)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274320" y="4892040"/>
            <a:ext cx="8595360" cy="155448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365760" y="4892040"/>
            <a:ext cx="8412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</a:rPr>
              <a:t>Monday is the weakest day (957 sessions). Strong growth trend: March sessions (4,816) are 119% of January (2,199).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Content Performance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891B2"/>
                </a:solidFill>
              </a:rPr>
              <a:t>Top channels and audience alignment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Top Channels by Sessions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91440" y="1005840"/>
          <a:ext cx="52120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486400" y="777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Avg Session Length (mins)</a:t>
            </a:r>
            <a:endParaRPr lang="en-US" sz="13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5394960" y="1005840"/>
          <a:ext cx="34747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274320" y="3931920"/>
            <a:ext cx="4114800" cy="914400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36576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Female viewers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65760" y="422452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#1 Africa Magic  #2 Trace TV  #3 Cartoon Network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754880" y="3931920"/>
            <a:ext cx="4114800" cy="91440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84632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Male viewers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846320" y="422452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#1 SuperSport Live  #2 ICC Cricket  #3 Channel O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74320" y="4910328"/>
            <a:ext cx="8595360" cy="155448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65760" y="4910328"/>
            <a:ext cx="8412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91B2"/>
                </a:solidFill>
              </a:rPr>
              <a:t>ICC Cricket has the highest engagement (16.9 min avg) despite ranking 2nd by session count — indicating deep, loyal viewership.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Factors Influencing Consumption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54864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9601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Content Type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271016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Sport &amp; live events drive highest sessions (SuperSport + ICC = 31% of all viewing). Real-time, live content creates urgency.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868680"/>
            <a:ext cx="411480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54864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73752" y="9601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Day of Week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3752" y="1271016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Fri/Sat dominate. Midweek (Wed/Thu) is moderate. Monday is significantly lowest — no live events scheduled.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411480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54864" cy="1234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" y="23317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Time of Day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" y="2642616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Evening (18–22h) is prime-time. Afternoon (12–17h) is secondary peak. Both align with after-work / school patterns.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240280"/>
            <a:ext cx="411480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240280"/>
            <a:ext cx="54864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73752" y="23317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Demographics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3752" y="2642616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25–34 age group generates the most sessions. Male users drive sports; female users favour entertainment channels.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411480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611880"/>
            <a:ext cx="54864" cy="12344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" y="37033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Month / Seasonality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" y="4014216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Sessions grew 119% from Jan to March — likely driven by cricket season (ICC CWC) and live sports calendar.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611880"/>
            <a:ext cx="411480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3611880"/>
            <a:ext cx="54864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73752" y="37033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Session Depth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73752" y="4014216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ICC Cricket avg session = 17 mins vs Africa Magic = 3.4 mins. Long-form sports content retains attention far longer.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Monday Strategy — Lifting Low-Day Consumption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73152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1C1C"/>
                </a:solidFill>
              </a:rPr>
              <a:t>Monday records only 957 sessions — 42% lower than Friday (1,675). Avg session time drops to 7.2 mins vs Saturday's 10.9 mins.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4572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73736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8105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Monday Movie Night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08483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Schedule exclusive film premiers on M-Net and Africa Magic on Mondays. Create "Weekend Catch-Up" curated playlists for missed content.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73736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1737360"/>
            <a:ext cx="4572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173736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57800" y="18105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Sports Highlights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08483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Push weekend match highlights packages via SuperSport Blitz on Monday mornings. Leverage existing cricket/sports audience.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78892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788920"/>
            <a:ext cx="4572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78892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286207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Monday Push Notifications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13639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Send personalised push notifications Sunday evening promoting Monday's lineup. Target inactive users specifically.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278892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2788920"/>
            <a:ext cx="4572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09160" y="278892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🎵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57800" y="286207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Music &amp; Youth Content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57800" y="313639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Schedule Trace TV and Channel O premiere content (new music videos, shows) on Mondays to capture 18–34 demographics.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84048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3840480"/>
            <a:ext cx="4572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38404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🎁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39136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Monday Loyalty Reward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418795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Introduce "Monday Bonus" — extra watch-time credits or early access to new content for users who stream on Monday.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384048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09160" y="3840480"/>
            <a:ext cx="4572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09160" y="38404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📺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57800" y="39136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Reality / Lifestyle Block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57800" y="418795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Create a dedicated Monday reality TV and lifestyle programming block on Africa Magic and kykNET to target female viewers (currently underserved).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Growth Recommendations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891B2"/>
                </a:solidFill>
              </a:rPr>
              <a:t>Initiatives to grow the subscriber base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57200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86868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9601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Activate 989 Inactive Users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289304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Win-back email campaign targeting the 18% inactive subscribers. Personalise by province &amp; age. Offer 30-day free premium trial.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411480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868680"/>
            <a:ext cx="45720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86868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57800" y="9601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Female Audience Expansion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289304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Current female subscriber rate is critically low (10% of base). Partner with Africa Magic, kykNET, and lifestyle channels. Create "BrightTV for Her" campaign.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240280"/>
            <a:ext cx="411480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240280"/>
            <a:ext cx="457200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24028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23317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Live Sports as Growth Driver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2660904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Sports drives 31% of sessions. Secure rights to local sports (PSL, Proteas). Real-time, exclusive events convert and retain subscribers.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240280"/>
            <a:ext cx="411480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2240280"/>
            <a:ext cx="457200" cy="1234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09160" y="224028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57800" y="23317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Provincial Expansion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2660904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Gauteng leads (32%) but KZN and EC are underpenetrated. Localise content recommendations. Explore partnerships with regional broadcasters.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611880"/>
            <a:ext cx="411480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3611880"/>
            <a:ext cx="457200" cy="12344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361188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2960" y="37033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Youth Content Strategy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4032504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18–24 viewers prefer music &amp; entertainment (Trace, Channel O, Cartoon Network). Invest in Afrobeats, youth reality shows and original content.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611880"/>
            <a:ext cx="411480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09160" y="3611880"/>
            <a:ext cx="45720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09160" y="361188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57800" y="37033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Social Media Activation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57800" y="4032504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Leverage existing social handles in the user database. Create #BrightTVMonday hashtag campaigns. Partner with influencers aligned to top channels.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6576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73152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0698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Strong Base, Activation Gap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5,375 registered users but 989 are inactive. Immediate win-back opportunity.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19656"/>
            <a:ext cx="73152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83794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Sports = Engagement Engine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09397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SuperSport + ICC Cricket = 31% of all sessions. Live sports is the #1 retention driver.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87752"/>
            <a:ext cx="73152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26060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Monday is the Big Opportunity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86207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42% below Friday. Programming + promotional intervention needed urgently.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55848"/>
            <a:ext cx="73152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37413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Female Audience Untapped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6301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Only 10% female subscribers. A focused content strategy could double reach.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123944"/>
            <a:ext cx="73152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41422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Growth Trend is Positive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439826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Sessions grew 119% Jan→Mar. Momentum must be sustained through content investment.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71530"/>
          </a:solidFill>
          <a:ln w="12700">
            <a:solidFill>
              <a:srgbClr val="0715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BrightTV Analytics  |  April 2026  |  Nthabiseng Nkhatau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924</Words>
  <Application>Microsoft Macintosh PowerPoint</Application>
  <PresentationFormat>On-screen Show (16:9)</PresentationFormat>
  <Paragraphs>149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BrightTV Viewership Analytics</dc:title>
  <dc:subject>PptxGenJS Presentation</dc:subject>
  <dc:creator>PptxGenJS</dc:creator>
  <cp:lastModifiedBy>Nthabiseng Nkhatau</cp:lastModifiedBy>
  <cp:revision>3</cp:revision>
  <dcterms:created xsi:type="dcterms:W3CDTF">2026-04-19T17:26:12Z</dcterms:created>
  <dcterms:modified xsi:type="dcterms:W3CDTF">2026-04-19T20:57:30Z</dcterms:modified>
</cp:coreProperties>
</file>